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4ddfe5f3-5292-4c9e-8e23-3b7f4f57c15c.fntdata" /><ns0:Relationship Id="rIdFont21" Type="http://schemas.openxmlformats.org/officeDocument/2006/relationships/font" Target="fonts/109e2343-a45a-411d-ac3c-d222cfd29fc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682430"/>
            <a:ext cx="171450" cy="228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525" y="4682430"/>
            <a:ext cx="228600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175" y="4682430"/>
            <a:ext cx="22860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1946969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EXECUTIVE PROJECT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18444"/>
            <a:ext cx="8901112" cy="118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8FAFC"/>
                </a:solidFill>
                <a:latin typeface="Plus Jakarta Sans"/>
              </a:rPr>
              <a:t>Telecom Customer Churn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729930"/>
            <a:ext cx="6953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AI-Augmented Data Analytics Pipeline Powered by Excel, Power BI &amp; Generative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4687192"/>
            <a:ext cx="1607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lus Jakarta Sans"/>
              </a:rPr>
              <a:t>Microsoft Excel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9425" y="4687192"/>
            <a:ext cx="18335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lus Jakarta Sans"/>
              </a:rPr>
              <a:t>Power BI Desktop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72075" y="4687192"/>
            <a:ext cx="16668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lus Jakarta Sans"/>
              </a:rPr>
              <a:t>AI Tools &amp; GenAI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04219"/>
            <a:ext cx="4614267" cy="2327671"/>
          </a:xfrm>
          <a:prstGeom prst="roundRect">
            <a:avLst>
              <a:gd name="adj" fmla="val 6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33467" y="2377380"/>
            <a:ext cx="5596532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33467" y="3501330"/>
            <a:ext cx="5596532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33467" y="4625280"/>
            <a:ext cx="5596532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191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The Business Challenge &amp; Project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185219"/>
            <a:ext cx="481533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PRIMARY CHURN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32869"/>
            <a:ext cx="4815333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b="1" sz="5400" i="0" u="none">
                <a:solidFill>
                  <a:srgbClr val="E11D48"/>
                </a:solidFill>
                <a:latin typeface="Plus Jakarta Sans"/>
              </a:rPr>
              <a:t>26.5%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271069"/>
            <a:ext cx="3947517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Severe subscriber attrition impacting annual recurring revenue.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2067" y="2586930"/>
            <a:ext cx="612993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Root-Cause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2067" y="2882205"/>
            <a:ext cx="612993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Uncover contract, payment, and service attrition triggers.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2067" y="3710880"/>
            <a:ext cx="612993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Cross-Tool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2067" y="4006155"/>
            <a:ext cx="612993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Integrated workflow across Excel, Power BI, and GenAI models.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2067" y="4834830"/>
            <a:ext cx="612993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Retention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067" y="5130105"/>
            <a:ext cx="612993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Deploy targeted business interventions to protect revenue.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01255"/>
            <a:ext cx="3378249" cy="21336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06949" y="2901255"/>
            <a:ext cx="3378249" cy="21336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901255"/>
            <a:ext cx="3378249" cy="21336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324415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699" y="324415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649" y="324415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5387" y="3367980"/>
            <a:ext cx="1619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2237" y="3367980"/>
            <a:ext cx="23812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7186" y="3367980"/>
            <a:ext cx="2381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METHODOLOGY &amp; TOOLSET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8191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End-to-End Analytics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3891855"/>
            <a:ext cx="368385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Microsoft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4253805"/>
            <a:ext cx="29019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Data cleaning and missing value imputation.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2699" y="3891855"/>
            <a:ext cx="368385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Power BI Desktop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2699" y="4253805"/>
            <a:ext cx="29019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Relational modeling and complex DAX measures.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7649" y="3891855"/>
            <a:ext cx="368385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AI Tools &amp; GenAI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7649" y="4253805"/>
            <a:ext cx="29019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Automated DAX authoring and risk clustering.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91767"/>
            <a:ext cx="2495550" cy="1552575"/>
          </a:xfrm>
          <a:prstGeom prst="roundRect">
            <a:avLst>
              <a:gd name="adj" fmla="val 85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86150" y="3191767"/>
            <a:ext cx="2495550" cy="1552575"/>
          </a:xfrm>
          <a:prstGeom prst="roundRect">
            <a:avLst>
              <a:gd name="adj" fmla="val 8588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191767"/>
            <a:ext cx="2495550" cy="1552575"/>
          </a:xfrm>
          <a:prstGeom prst="roundRect">
            <a:avLst>
              <a:gd name="adj" fmla="val 85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34450" y="3191767"/>
            <a:ext cx="2495550" cy="1552575"/>
          </a:xfrm>
          <a:prstGeom prst="roundRect">
            <a:avLst>
              <a:gd name="adj" fmla="val 8588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TELEMETRY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191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Telecom Customer Churn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181" y="3496567"/>
            <a:ext cx="2643187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F172A"/>
                </a:solidFill>
                <a:latin typeface="Plus Jakarta Sans"/>
              </a:rPr>
              <a:t>7,043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181" y="4220467"/>
            <a:ext cx="2643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64748B"/>
                </a:solidFill>
                <a:latin typeface="Plus Jakarta Sans"/>
              </a:rPr>
              <a:t>Total Subscribers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2331" y="3496567"/>
            <a:ext cx="2643187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E11D48"/>
                </a:solidFill>
                <a:latin typeface="Plus Jakarta Sans"/>
              </a:rPr>
              <a:t>26.5%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2331" y="4220467"/>
            <a:ext cx="2643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BE123C"/>
                </a:solidFill>
                <a:latin typeface="Plus Jakarta Sans"/>
              </a:rPr>
              <a:t>Overall Churn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6481" y="3496567"/>
            <a:ext cx="2643187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F172A"/>
                </a:solidFill>
                <a:latin typeface="Plus Jakarta Sans"/>
              </a:rPr>
              <a:t>1,869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6481" y="4220467"/>
            <a:ext cx="2643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64748B"/>
                </a:solidFill>
                <a:latin typeface="Plus Jakarta Sans"/>
              </a:rPr>
              <a:t>Lost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0631" y="3496567"/>
            <a:ext cx="2643187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15803D"/>
                </a:solidFill>
                <a:latin typeface="Plus Jakarta Sans"/>
              </a:rPr>
              <a:t>$139K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0631" y="4220467"/>
            <a:ext cx="2643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66534"/>
                </a:solidFill>
                <a:latin typeface="Plus Jakarta Sans"/>
              </a:rPr>
              <a:t>Monthly Lost Revenue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48892"/>
            <a:ext cx="3352800" cy="1838325"/>
          </a:xfrm>
          <a:prstGeom prst="roundRect">
            <a:avLst>
              <a:gd name="adj" fmla="val 82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3048892"/>
            <a:ext cx="3352800" cy="1838325"/>
          </a:xfrm>
          <a:prstGeom prst="roundRect">
            <a:avLst>
              <a:gd name="adj" fmla="val 82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48892"/>
            <a:ext cx="3352800" cy="1838325"/>
          </a:xfrm>
          <a:prstGeom prst="roundRect">
            <a:avLst>
              <a:gd name="adj" fmla="val 82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DATA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191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Excel Wrangling &amp; Feature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3391792"/>
            <a:ext cx="35242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3791842"/>
            <a:ext cx="370046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TotalCharges Imputation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4106167"/>
            <a:ext cx="3524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Cleaned 11 null records seamlessly.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6300" y="3391792"/>
            <a:ext cx="35242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6300" y="3791842"/>
            <a:ext cx="370046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Tenure Cohort Binning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6300" y="4106167"/>
            <a:ext cx="3524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Built 5 distinct lifecycle groups.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3900" y="3391792"/>
            <a:ext cx="35242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791842"/>
            <a:ext cx="370046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Categorical Normalization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4106167"/>
            <a:ext cx="2914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Standardized senior and service flags.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CORE FINDING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91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Contract Duration vs. Churn 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96480"/>
            <a:ext cx="5162550" cy="2343150"/>
          </a:xfrm>
          <a:prstGeom prst="roundRect">
            <a:avLst>
              <a:gd name="adj" fmla="val 6504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906017"/>
            <a:ext cx="5162550" cy="2124075"/>
          </a:xfrm>
          <a:prstGeom prst="roundRect">
            <a:avLst>
              <a:gd name="adj" fmla="val 7174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CORE FINDING 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91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Service Add-On Risk Profiling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" y="3139380"/>
            <a:ext cx="587573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11D48"/>
                </a:solidFill>
                <a:latin typeface="Plus Jakarta Sans"/>
              </a:rPr>
              <a:t>High Churn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0350" y="3248917"/>
            <a:ext cx="55816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A34A"/>
                </a:solidFill>
                <a:latin typeface="Plus Jakarta Sans"/>
              </a:rPr>
              <a:t>Retention Anchors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3615630"/>
            <a:ext cx="5595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81337"/>
                </a:solidFill>
                <a:latin typeface="Plus Jakarta Sans"/>
              </a:rPr>
              <a:t>Fiber Optic:</a:t>
            </a:r>
            <a:r>
              <a:rPr b="0" sz="1350" i="0" u="none">
                <a:solidFill>
                  <a:srgbClr val="881337"/>
                </a:solidFill>
                <a:latin typeface="Plus Jakarta Sans"/>
              </a:rPr>
              <a:t> 41.9% Churn rate without security.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3987105"/>
            <a:ext cx="457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81337"/>
                </a:solidFill>
                <a:latin typeface="Plus Jakarta Sans"/>
              </a:rPr>
              <a:t>Tech Support Absent:</a:t>
            </a:r>
            <a:r>
              <a:rPr b="0" sz="1350" i="0" u="none">
                <a:solidFill>
                  <a:srgbClr val="881337"/>
                </a:solidFill>
                <a:latin typeface="Plus Jakarta Sans"/>
              </a:rPr>
              <a:t> 41.6% Subscriber departure rate.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4577655"/>
            <a:ext cx="5595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81337"/>
                </a:solidFill>
                <a:latin typeface="Plus Jakarta Sans"/>
              </a:rPr>
              <a:t>First Year Users:</a:t>
            </a:r>
            <a:r>
              <a:rPr b="0" sz="1350" i="0" u="none">
                <a:solidFill>
                  <a:srgbClr val="881337"/>
                </a:solidFill>
                <a:latin typeface="Plus Jakarta Sans"/>
              </a:rPr>
              <a:t> 47.4% High onboarding vulnerability.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0350" y="3725167"/>
            <a:ext cx="55816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4532D"/>
                </a:solidFill>
                <a:latin typeface="Plus Jakarta Sans"/>
              </a:rPr>
              <a:t>Online Security:</a:t>
            </a:r>
            <a:r>
              <a:rPr b="0" sz="1350" i="0" u="none">
                <a:solidFill>
                  <a:srgbClr val="14532D"/>
                </a:solidFill>
                <a:latin typeface="Plus Jakarta Sans"/>
              </a:rPr>
              <a:t> Churn drops to 14.6%.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0350" y="4096642"/>
            <a:ext cx="55816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4532D"/>
                </a:solidFill>
                <a:latin typeface="Plus Jakarta Sans"/>
              </a:rPr>
              <a:t>Active Tech Support:</a:t>
            </a:r>
            <a:r>
              <a:rPr b="0" sz="1350" i="0" u="none">
                <a:solidFill>
                  <a:srgbClr val="14532D"/>
                </a:solidFill>
                <a:latin typeface="Plus Jakarta Sans"/>
              </a:rPr>
              <a:t> Churn reduced below 15.2%.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0350" y="4468117"/>
            <a:ext cx="55816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4532D"/>
                </a:solidFill>
                <a:latin typeface="Plus Jakarta Sans"/>
              </a:rPr>
              <a:t>Partner Plans:</a:t>
            </a:r>
            <a:r>
              <a:rPr b="0" sz="1350" i="0" u="none">
                <a:solidFill>
                  <a:srgbClr val="14532D"/>
                </a:solidFill>
                <a:latin typeface="Plus Jakarta Sans"/>
              </a:rPr>
              <a:t> Higher retention among families.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10780"/>
            <a:ext cx="3378249" cy="2114550"/>
          </a:xfrm>
          <a:prstGeom prst="roundRect">
            <a:avLst>
              <a:gd name="adj" fmla="val 72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06949" y="2910780"/>
            <a:ext cx="3378249" cy="2114550"/>
          </a:xfrm>
          <a:prstGeom prst="roundRect">
            <a:avLst>
              <a:gd name="adj" fmla="val 72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910780"/>
            <a:ext cx="3378249" cy="2114550"/>
          </a:xfrm>
          <a:prstGeom prst="roundRect">
            <a:avLst>
              <a:gd name="adj" fmla="val 72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CORE FINDING 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191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Payment Method Attrition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3253680"/>
            <a:ext cx="3508437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E11D48"/>
                </a:solidFill>
                <a:latin typeface="Plus Jakarta Sans"/>
              </a:rPr>
              <a:t>45.2%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901380"/>
            <a:ext cx="368385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Electronic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4244280"/>
            <a:ext cx="3508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Highest overall subscriber exit rate.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2699" y="3253680"/>
            <a:ext cx="3508437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0284C7"/>
                </a:solidFill>
                <a:latin typeface="Plus Jakarta Sans"/>
              </a:rPr>
              <a:t>15.9%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2699" y="3901380"/>
            <a:ext cx="368385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Bank Transfer Auto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99" y="4244280"/>
            <a:ext cx="29019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Stable recurring payment retention.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7649" y="3253680"/>
            <a:ext cx="3508437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6A34A"/>
                </a:solidFill>
                <a:latin typeface="Plus Jakarta Sans"/>
              </a:rPr>
              <a:t>14.8%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7649" y="3901380"/>
            <a:ext cx="368385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Credit Card Auto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7649" y="4244280"/>
            <a:ext cx="3508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Lowest churn billing mechanism.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00850" y="2444055"/>
            <a:ext cx="4629150" cy="87630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00850" y="3491805"/>
            <a:ext cx="4629150" cy="87630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00850" y="4539555"/>
            <a:ext cx="4629150" cy="87630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34455"/>
            <a:ext cx="5657850" cy="419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834455"/>
            <a:ext cx="5657850" cy="419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BI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191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Interactive Power BI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1350" y="2634555"/>
            <a:ext cx="52006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Executive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1350" y="2910780"/>
            <a:ext cx="52006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High-level North-Star churn metrics.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1350" y="3682305"/>
            <a:ext cx="52006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Demographic Deep-Dive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1350" y="3958530"/>
            <a:ext cx="52006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Risk breakdowns across senior citizens.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1350" y="4730055"/>
            <a:ext cx="52006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Billing &amp;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1350" y="5006280"/>
            <a:ext cx="52006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Payment method and add-on correlations.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10780"/>
            <a:ext cx="3378249" cy="2114550"/>
          </a:xfrm>
          <a:prstGeom prst="roundRect">
            <a:avLst>
              <a:gd name="adj" fmla="val 72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06949" y="2910780"/>
            <a:ext cx="3378249" cy="2114550"/>
          </a:xfrm>
          <a:prstGeom prst="roundRect">
            <a:avLst>
              <a:gd name="adj" fmla="val 72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910780"/>
            <a:ext cx="3378249" cy="2114550"/>
          </a:xfrm>
          <a:prstGeom prst="roundRect">
            <a:avLst>
              <a:gd name="adj" fmla="val 72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325368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699" y="325368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649" y="325368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377505"/>
            <a:ext cx="26670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6524" y="3377505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286" y="3377505"/>
            <a:ext cx="1619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GENAI ACCELERATION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8191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AI-Augmented Analytics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3901380"/>
            <a:ext cx="368385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DAX Measure Authoring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4244280"/>
            <a:ext cx="29019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Generated complex cohort retention measures.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2699" y="3901380"/>
            <a:ext cx="368385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Pattern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2699" y="4244280"/>
            <a:ext cx="29019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Synthesized multi-variable risk clusters.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7649" y="3901380"/>
            <a:ext cx="368385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Executive Briefings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7649" y="4244280"/>
            <a:ext cx="29019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Drafted crisp stakeholder takeaways.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58430"/>
            <a:ext cx="2524125" cy="1619250"/>
          </a:xfrm>
          <a:prstGeom prst="roundRect">
            <a:avLst>
              <a:gd name="adj" fmla="val 823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6625" y="3158430"/>
            <a:ext cx="2524125" cy="1619250"/>
          </a:xfrm>
          <a:prstGeom prst="roundRect">
            <a:avLst>
              <a:gd name="adj" fmla="val 823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58430"/>
            <a:ext cx="2524125" cy="1619250"/>
          </a:xfrm>
          <a:prstGeom prst="roundRect">
            <a:avLst>
              <a:gd name="adj" fmla="val 823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05875" y="3158430"/>
            <a:ext cx="2524125" cy="1619250"/>
          </a:xfrm>
          <a:prstGeom prst="roundRect">
            <a:avLst>
              <a:gd name="adj" fmla="val 823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ACTIONABLE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191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Customer Retention Action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3425130"/>
            <a:ext cx="263128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3768030"/>
            <a:ext cx="276284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Contract Upgrades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4072830"/>
            <a:ext cx="22002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Incentivize annual contract migrations.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6175" y="3425130"/>
            <a:ext cx="263128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6175" y="3768030"/>
            <a:ext cx="276284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Auto-Pay Adoption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6175" y="4072830"/>
            <a:ext cx="22002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Offer small billing discounts.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25130"/>
            <a:ext cx="263128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lus Jakarta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68030"/>
            <a:ext cx="276284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Support Bundles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072830"/>
            <a:ext cx="22002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Bundle free online security.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5425" y="3425130"/>
            <a:ext cx="263128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lus Jakarta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5425" y="3768030"/>
            <a:ext cx="276284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Proactive Outreach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5425" y="4072830"/>
            <a:ext cx="22002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Flag early at-risk accounts.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10250" y="4304258"/>
            <a:ext cx="5715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7453" y="2001291"/>
            <a:ext cx="3417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Plus Jakarta Sans"/>
              </a:rPr>
              <a:t>PROJECTED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63515" y="2353716"/>
            <a:ext cx="5464968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F8FAFC"/>
                </a:solidFill>
                <a:latin typeface="Plus Jakarta Sans"/>
              </a:rPr>
              <a:t>$350,000+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5437" y="3306216"/>
            <a:ext cx="9001125" cy="693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b="1" sz="2100" i="0" u="none">
                <a:solidFill>
                  <a:srgbClr val="E2E8F0"/>
                </a:solidFill>
                <a:latin typeface="Plus Jakarta Sans"/>
              </a:rPr>
              <a:t>Projected Annual Recurring Revenue Saved by Reducing Churn Below 18%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17281" y="4637633"/>
            <a:ext cx="2357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Plus Jakarta Sans"/>
              </a:rPr>
              <a:t>Questions &amp; Discussion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85844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https://nextgentemplates.com/wp-content/uploads/2025/07/Telecommunications-Dashboard-in-Power-BI-1.jpg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2905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nextgentemplates.com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